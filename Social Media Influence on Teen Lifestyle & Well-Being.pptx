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9" r:id="rId5"/>
    <p:sldId id="261" r:id="rId6"/>
    <p:sldId id="262" r:id="rId7"/>
    <p:sldId id="263" r:id="rId8"/>
    <p:sldId id="270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A9E4F-EE25-4F26-8542-17AFE81E748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FC2BA-7C84-4218-921A-206E2A4ED7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0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FC2BA-7C84-4218-921A-206E2A4ED71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023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E2E3-E86F-FFAB-3D82-84B7250C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2EF59-0F45-4090-CF54-A4A1854A6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64691-212D-7579-2ECC-7B69C2C83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F5A3C-168C-D451-EC65-80C550633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FC2BA-7C84-4218-921A-206E2A4ED71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2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B119-1DF6-7253-EE19-80FCF5E54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2918F-55B5-2147-94C4-6624CAF02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7FEAC-0A7F-CC25-9537-CA0BA6EF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FED6D-F8D2-AAFB-937E-A6BD26BFC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22135-3E0F-C236-FBFA-1034D10B5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36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2E70-C511-600B-3B01-C04A1071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EA48D-F4B1-41E2-E0F7-03C5C4452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750CC-9784-903C-D21C-57B19C2A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C0D1A-B44A-419B-D519-60D26BB2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A689A-D666-17F8-FD15-F11B22F7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12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B78C-6EC2-F818-FE07-65356020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83F4B-1521-42BC-9979-E4A00388C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86DD5-6EE4-0F90-D6FE-2C284219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03662-EC82-417B-D5B7-E423AD95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BC9B1-D16A-31B6-9D0C-52827E8D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4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D81D-0EF0-1658-A00A-F282D80B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E61B-6736-DF55-D346-7B118BBFC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EF254-6D55-47BF-7A0D-5EC8EB44F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746E6-0808-8F70-AE44-ABDF555D4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8F24D-597C-E30F-0AC4-315DB91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DFE10-CBB0-B8B3-A021-C8E4AEEC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0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05AB-4D0A-1A37-6ABB-3C9BF0AD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94B87-5228-5B94-79E2-C8D9E59CB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1A7A1-F19F-B158-DA34-2DA1B70B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9C842-1566-BC8F-A709-14822DF1FD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D7DD9-7B48-C379-4507-1BF417C14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8D4A8-2693-64D1-EDD4-E308C7D9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7AB7F-47E0-46EE-B0A6-18AB16B88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282D55-009A-9A1E-C04F-70CCADB8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413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FA21-CB5E-F8F4-8870-FE465B23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AFAE9-2885-99A6-3E04-562B126F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D978D-E731-33AF-507D-C8EDE802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76517-E632-2D2D-9605-ADACC3D2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92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2DBAE-BF1C-C87A-7C70-9B09E5A2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77451-D729-1928-1157-C77AC7D3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7C743-4B7A-E614-BE53-9ADAF456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950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3AC7-C445-A674-40BD-F1206BD81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9F538-0C43-E203-21E0-7291882C9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7D9DA-B6CF-85E7-CA50-EA784CE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28115-C067-9F26-2291-436EA14F3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35B9F-945D-F0DB-402C-2BB732B5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E5EED-5611-679D-0103-EE69E413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65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7068-C9E0-DCF4-C871-FFC07BF1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91A41-8DD6-1C89-7D06-77D46AAB3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E5880-2687-EB2B-9B33-3A5F06294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16864-A57A-E309-D83C-FADC1475F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FE410-37E5-7497-1A80-4D312FE9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FD9A2-0779-802B-0752-F09EB2AE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19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DE72-8FA0-EAF5-FBCE-DECC821C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767A4-0471-273E-4BE7-971BDBAF8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92CB5-03F0-1B8B-B546-3CD46BF3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4195A-6E92-DEA7-68BB-4A2292CD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402DA-F8E3-5065-28A3-2C2FE392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46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5A071-347B-E2A2-32EC-6B38E92C07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D7BC4-A6B0-4176-1AD0-D2FC398119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38866-9733-7065-8CD1-515862FC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45E96-0011-DABE-2B72-66E12BA9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F122C-2E4D-B2B6-B7B8-DFDCCECE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96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9E700-1F06-7D42-55C7-AC19864A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2FFCF-5B21-9802-2021-3F3A68783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5A7F5-1EEB-7F7D-76A9-C92B034FD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8AE5D-EE36-43B8-B35C-EFF13DDFFE1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CDE45-3448-909F-F243-B73B9511B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DB4C4-ED61-2204-5A76-49C258226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9AE5C-323B-4AFE-AC49-E3FFF7A981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97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ureshbeekhani/teen-social-media-usage-and-mental-health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303621-F36F-7118-B903-15BB73E8E2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917621-1BED-9353-089B-7853735BC9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Social Media Influence on Teen Lifestyle &amp; Well-Being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4A7BE-CD6B-7560-2617-AD5D24EA5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IN" dirty="0"/>
              <a:t>An interactive Power BI dashboard analysing social media usage, wellness, lifestyle habits, and academic outcomes among Teens</a:t>
            </a:r>
          </a:p>
        </p:txBody>
      </p:sp>
    </p:spTree>
    <p:extLst>
      <p:ext uri="{BB962C8B-B14F-4D97-AF65-F5344CB8AC3E}">
        <p14:creationId xmlns:p14="http://schemas.microsoft.com/office/powerpoint/2010/main" val="301395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803FE2-B3BB-1EF7-6802-964D85DCB7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11611"/>
            <a:ext cx="12185522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0C4C52-A25B-2E75-525B-1E889AB1CA7F}"/>
              </a:ext>
            </a:extLst>
          </p:cNvPr>
          <p:cNvSpPr txBox="1"/>
          <p:nvPr/>
        </p:nvSpPr>
        <p:spPr>
          <a:xfrm>
            <a:off x="1071034" y="748921"/>
            <a:ext cx="3107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Overview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091AC-7E66-C8DB-FC84-DAE89F6D0924}"/>
              </a:ext>
            </a:extLst>
          </p:cNvPr>
          <p:cNvSpPr txBox="1"/>
          <p:nvPr/>
        </p:nvSpPr>
        <p:spPr>
          <a:xfrm>
            <a:off x="1071034" y="1351239"/>
            <a:ext cx="891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Social media plays a significant role in teenagers' daily lives. Understanding its influence on wellness, lifestyle habits, and academic performance can help identify patterns and potential 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EA4CF-1CD5-ADF7-77FA-B6B898F1F070}"/>
              </a:ext>
            </a:extLst>
          </p:cNvPr>
          <p:cNvSpPr txBox="1"/>
          <p:nvPr/>
        </p:nvSpPr>
        <p:spPr>
          <a:xfrm>
            <a:off x="2205566" y="2009450"/>
            <a:ext cx="87545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Analyse social media usage trends across teen demographics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Evaluate the impact of digital engagement on mental well-being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Assess effects on sleep, physical activity and social interactions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Examine relationships between social media habits and academic performance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92F52F-B9F5-E76C-B538-C54724BA5F2B}"/>
              </a:ext>
            </a:extLst>
          </p:cNvPr>
          <p:cNvSpPr txBox="1"/>
          <p:nvPr/>
        </p:nvSpPr>
        <p:spPr>
          <a:xfrm>
            <a:off x="1071034" y="4453466"/>
            <a:ext cx="9436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Original Dataset Source – </a:t>
            </a:r>
            <a:r>
              <a:rPr lang="en-IN" b="1" dirty="0">
                <a:hlinkClick r:id="rId3"/>
              </a:rPr>
              <a:t>Kaggle Teen Social Media Usage &amp; Mental Health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69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93C0-EFDC-9C4F-8848-57F573B4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BD50FA-05AB-1821-9C65-68DEDCB236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2894B8-B94E-0232-5B27-557A49862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811976"/>
              </p:ext>
            </p:extLst>
          </p:nvPr>
        </p:nvGraphicFramePr>
        <p:xfrm>
          <a:off x="1574799" y="1026312"/>
          <a:ext cx="9245602" cy="54608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622801">
                  <a:extLst>
                    <a:ext uri="{9D8B030D-6E8A-4147-A177-3AD203B41FA5}">
                      <a16:colId xmlns:a16="http://schemas.microsoft.com/office/drawing/2014/main" val="2287178265"/>
                    </a:ext>
                  </a:extLst>
                </a:gridCol>
                <a:gridCol w="4622801">
                  <a:extLst>
                    <a:ext uri="{9D8B030D-6E8A-4147-A177-3AD203B41FA5}">
                      <a16:colId xmlns:a16="http://schemas.microsoft.com/office/drawing/2014/main" val="89719288"/>
                    </a:ext>
                  </a:extLst>
                </a:gridCol>
              </a:tblGrid>
              <a:tr h="3525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Metrics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80826"/>
                  </a:ext>
                </a:extLst>
              </a:tr>
              <a:tr h="53577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 teens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2500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856844"/>
                  </a:ext>
                </a:extLst>
              </a:tr>
              <a:tr h="79841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Age Range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13-19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295194"/>
                  </a:ext>
                </a:extLst>
              </a:tr>
              <a:tr h="11091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 Platforms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lphaUcPeriod"/>
                      </a:pPr>
                      <a:r>
                        <a:rPr lang="en-US" sz="1400" dirty="0"/>
                        <a:t>Instagram</a:t>
                      </a:r>
                    </a:p>
                    <a:p>
                      <a:pPr marL="342900" indent="-342900" algn="l">
                        <a:buFont typeface="+mj-lt"/>
                        <a:buAutoNum type="alphaUcPeriod"/>
                      </a:pPr>
                      <a:r>
                        <a:rPr lang="en-US" sz="1400" dirty="0"/>
                        <a:t>Tik Tok</a:t>
                      </a:r>
                    </a:p>
                    <a:p>
                      <a:pPr marL="342900" indent="-342900" algn="l">
                        <a:buFont typeface="+mj-lt"/>
                        <a:buAutoNum type="alphaUcPeriod"/>
                      </a:pPr>
                      <a:r>
                        <a:rPr lang="en-US" sz="1400" dirty="0"/>
                        <a:t>Both</a:t>
                      </a:r>
                    </a:p>
                    <a:p>
                      <a:pPr marL="342900" indent="-342900" algn="l">
                        <a:buFont typeface="+mj-lt"/>
                        <a:buAutoNum type="alphaUcPeriod"/>
                      </a:pPr>
                      <a:r>
                        <a:rPr lang="en-US" sz="1400" dirty="0"/>
                        <a:t>Other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88554"/>
                  </a:ext>
                </a:extLst>
              </a:tr>
              <a:tr h="6777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Attributes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Age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Gender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Daily Social Media Hours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Platform Usage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Sleep Hours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Screen Time Before Sleep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Academic Performance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Physical Activity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Social Interaction Level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Stress Level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Anxiety Level</a:t>
                      </a:r>
                    </a:p>
                    <a:p>
                      <a:pPr marL="342900" indent="-342900" algn="l">
                        <a:buFont typeface="+mj-lt"/>
                        <a:buAutoNum type="arabicPeriod"/>
                      </a:pPr>
                      <a:r>
                        <a:rPr lang="en-IN" sz="1400" dirty="0"/>
                        <a:t>Depression Label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0810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F57AAB-7328-C7AC-1ED1-5E77AEAAF340}"/>
              </a:ext>
            </a:extLst>
          </p:cNvPr>
          <p:cNvSpPr txBox="1"/>
          <p:nvPr/>
        </p:nvSpPr>
        <p:spPr>
          <a:xfrm>
            <a:off x="1498600" y="377319"/>
            <a:ext cx="734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34070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4B99-F698-6E9D-0EDD-1E250D2FD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01B724-6CCB-2ECF-4675-57C4892DC4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12CADB-CB9A-7315-B252-517E5A545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507851"/>
              </p:ext>
            </p:extLst>
          </p:nvPr>
        </p:nvGraphicFramePr>
        <p:xfrm>
          <a:off x="1202265" y="1573946"/>
          <a:ext cx="9245602" cy="49345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622801">
                  <a:extLst>
                    <a:ext uri="{9D8B030D-6E8A-4147-A177-3AD203B41FA5}">
                      <a16:colId xmlns:a16="http://schemas.microsoft.com/office/drawing/2014/main" val="2287178265"/>
                    </a:ext>
                  </a:extLst>
                </a:gridCol>
                <a:gridCol w="4622801">
                  <a:extLst>
                    <a:ext uri="{9D8B030D-6E8A-4147-A177-3AD203B41FA5}">
                      <a16:colId xmlns:a16="http://schemas.microsoft.com/office/drawing/2014/main" val="89719288"/>
                    </a:ext>
                  </a:extLst>
                </a:gridCol>
              </a:tblGrid>
              <a:tr h="3994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Process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Step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80826"/>
                  </a:ext>
                </a:extLst>
              </a:tr>
              <a:tr h="5659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Checked duplicates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Home → Keep Rows  → Keep Duplicates, No duplicate entries were found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856844"/>
                  </a:ext>
                </a:extLst>
              </a:tr>
              <a:tr h="5659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Handled missing values 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View- Column Quality- Missing value analysis was performed. No null or blank values were detected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295194"/>
                  </a:ext>
                </a:extLst>
              </a:tr>
              <a:tr h="2663105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400" dirty="0"/>
                        <a:t>                                      Standardized formats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lphaLcParenR"/>
                      </a:pPr>
                      <a:r>
                        <a:rPr lang="en-US" sz="1400" dirty="0"/>
                        <a:t>Converted the First letters of column names to Capital letters</a:t>
                      </a:r>
                    </a:p>
                    <a:p>
                      <a:pPr marL="342900" indent="-342900" algn="l">
                        <a:buFont typeface="+mj-lt"/>
                        <a:buAutoNum type="alphaLcParenR"/>
                      </a:pPr>
                      <a:r>
                        <a:rPr lang="en-US" sz="1400" dirty="0"/>
                        <a:t>In "Gender" column, Converted 'male' and 'female' to 'Male' and 'Female'</a:t>
                      </a:r>
                    </a:p>
                    <a:p>
                      <a:pPr marL="342900" indent="-342900" algn="l">
                        <a:buFont typeface="+mj-lt"/>
                        <a:buAutoNum type="alphaLcParenR"/>
                      </a:pPr>
                      <a:r>
                        <a:rPr lang="en-US" sz="1400" dirty="0"/>
                        <a:t>In "</a:t>
                      </a:r>
                      <a:r>
                        <a:rPr lang="en-US" sz="1400" dirty="0" err="1"/>
                        <a:t>Social_interaction_level</a:t>
                      </a:r>
                      <a:r>
                        <a:rPr lang="en-US" sz="1400" dirty="0"/>
                        <a:t>" and "</a:t>
                      </a:r>
                      <a:r>
                        <a:rPr lang="en-US" sz="1400" dirty="0" err="1"/>
                        <a:t>Depression_risk</a:t>
                      </a:r>
                      <a:r>
                        <a:rPr lang="en-US" sz="1400" dirty="0"/>
                        <a:t>" columns converted 'low', 'medium' and 'high' to 'Low', ‘Medium' and 'High'</a:t>
                      </a:r>
                    </a:p>
                    <a:p>
                      <a:pPr marL="342900" indent="-342900" algn="l">
                        <a:buFont typeface="+mj-lt"/>
                        <a:buAutoNum type="alphaLcParenR"/>
                      </a:pPr>
                      <a:r>
                        <a:rPr lang="en-US" sz="1400" dirty="0"/>
                        <a:t>Select "</a:t>
                      </a:r>
                      <a:r>
                        <a:rPr lang="en-US" sz="1400" dirty="0" err="1"/>
                        <a:t>Academic_performance</a:t>
                      </a:r>
                      <a:r>
                        <a:rPr lang="en-US" sz="1400" dirty="0"/>
                        <a:t>"- Transform- Rounding- To '1' decimal place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arenR"/>
                        <a:tabLst/>
                        <a:defRPr/>
                      </a:pPr>
                      <a:r>
                        <a:rPr lang="en-US" sz="1400" dirty="0"/>
                        <a:t>Applied Clean and Trim</a:t>
                      </a:r>
                    </a:p>
                    <a:p>
                      <a:pPr algn="ctr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88554"/>
                  </a:ext>
                </a:extLst>
              </a:tr>
              <a:tr h="740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Corrected data types 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Home  → Data type, Checked and corrected all the columns data type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08104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79B4B64-2479-FEEF-5790-D89FDB9B74F2}"/>
              </a:ext>
            </a:extLst>
          </p:cNvPr>
          <p:cNvSpPr txBox="1"/>
          <p:nvPr/>
        </p:nvSpPr>
        <p:spPr>
          <a:xfrm>
            <a:off x="1202265" y="416364"/>
            <a:ext cx="734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Data Preprocessing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50BE5-1700-28C5-4EB3-346AF1570D23}"/>
              </a:ext>
            </a:extLst>
          </p:cNvPr>
          <p:cNvSpPr txBox="1"/>
          <p:nvPr/>
        </p:nvSpPr>
        <p:spPr>
          <a:xfrm>
            <a:off x="1202265" y="1039798"/>
            <a:ext cx="7984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Excel- Data- Get Data- Power query Editor- Transform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68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FEE1-AEAD-0527-8628-30752BD10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083F67-9369-117B-A66D-EEC6EFFE20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F90049-7DA0-20C2-DE63-4DD899BB9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664355"/>
              </p:ext>
            </p:extLst>
          </p:nvPr>
        </p:nvGraphicFramePr>
        <p:xfrm>
          <a:off x="558798" y="647597"/>
          <a:ext cx="11040534" cy="39494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520267">
                  <a:extLst>
                    <a:ext uri="{9D8B030D-6E8A-4147-A177-3AD203B41FA5}">
                      <a16:colId xmlns:a16="http://schemas.microsoft.com/office/drawing/2014/main" val="2287178265"/>
                    </a:ext>
                  </a:extLst>
                </a:gridCol>
                <a:gridCol w="5520267">
                  <a:extLst>
                    <a:ext uri="{9D8B030D-6E8A-4147-A177-3AD203B41FA5}">
                      <a16:colId xmlns:a16="http://schemas.microsoft.com/office/drawing/2014/main" val="89719288"/>
                    </a:ext>
                  </a:extLst>
                </a:gridCol>
              </a:tblGrid>
              <a:tr h="32207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Column Name</a:t>
                      </a:r>
                      <a:endParaRPr lang="en-IN" sz="14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Conditions</a:t>
                      </a:r>
                      <a:endParaRPr lang="en-IN" sz="14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80826"/>
                  </a:ext>
                </a:extLst>
              </a:tr>
              <a:tr h="28005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Mental Strain Index</a:t>
                      </a:r>
                      <a:r>
                        <a:rPr lang="en-US" sz="1200" dirty="0"/>
                        <a:t>(MSI)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 Add column →  Custom column → (Stress level + Anxiety level)/2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856844"/>
                  </a:ext>
                </a:extLst>
              </a:tr>
              <a:tr h="4667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Mental Strain Status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 Add column → Conditional column → “</a:t>
                      </a:r>
                      <a:r>
                        <a:rPr lang="en-IN" sz="1200" dirty="0"/>
                        <a:t>Mental Strain Index</a:t>
                      </a:r>
                      <a:r>
                        <a:rPr lang="en-US" sz="1200" dirty="0"/>
                        <a:t>(MSI)</a:t>
                      </a:r>
                      <a:endParaRPr lang="en-IN" sz="1200" dirty="0"/>
                    </a:p>
                    <a:p>
                      <a:pPr algn="l"/>
                      <a:r>
                        <a:rPr lang="en-US" sz="1200" dirty="0"/>
                        <a:t>“Less than or equal to 5- "Healthy", Less than or equal to 10- "Moderate Concern", Else- "High Risk"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295194"/>
                  </a:ext>
                </a:extLst>
              </a:tr>
              <a:tr h="65347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Age Group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Add column → Conditional column → “Age” Less than or equal to 14- "Early Teen", Less than or equal to 18- "Mid Teen", Else- "Late Teen"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88554"/>
                  </a:ext>
                </a:extLst>
              </a:tr>
              <a:tr h="4667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Sleep Quality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Add column → Conditional column → “Sleep </a:t>
                      </a:r>
                      <a:r>
                        <a:rPr lang="en-US" sz="1200" dirty="0" err="1"/>
                        <a:t>hrs</a:t>
                      </a:r>
                      <a:r>
                        <a:rPr lang="en-US" sz="1200" dirty="0"/>
                        <a:t>” Less than or equal to 6- "Poor Sleep", Less than or equal to 8.9- "Healthy Sleep", Else- "Over Sleep"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081043"/>
                  </a:ext>
                </a:extLst>
              </a:tr>
              <a:tr h="65347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Academic Status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Add column → Conditional column → “Academic Performance” Less than or equal to 2.49- "Below Average", Less than or equal to 2.99- "Average", Less than or equal to 3.49- "Good", Else- "Excellent"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261862"/>
                  </a:ext>
                </a:extLst>
              </a:tr>
              <a:tr h="4667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Social Media Usage Status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Add column → Conditional column → “Screen time before Sleep” Less than or equal to 1- "Low Usage", Less than 2- "Medium Usage", Else- "High Usage"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719259"/>
                  </a:ext>
                </a:extLst>
              </a:tr>
              <a:tr h="4667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Physical Activity Status 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Add column → Conditional column → “Physical Activity” Less than 1- "Poor Activity", Less than or equal to 1.5- "Moderate Activity", Else- "High Activity"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853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AAB2E0-2329-F2A9-CB34-655CE6735DD3}"/>
              </a:ext>
            </a:extLst>
          </p:cNvPr>
          <p:cNvSpPr txBox="1"/>
          <p:nvPr/>
        </p:nvSpPr>
        <p:spPr>
          <a:xfrm>
            <a:off x="685800" y="124377"/>
            <a:ext cx="734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r>
              <a:rPr lang="en-IN" sz="2800" b="1" dirty="0"/>
              <a:t>alculated columns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3ACDB-48E2-B784-08ED-E1B3B2A7FF0F}"/>
              </a:ext>
            </a:extLst>
          </p:cNvPr>
          <p:cNvSpPr txBox="1"/>
          <p:nvPr/>
        </p:nvSpPr>
        <p:spPr>
          <a:xfrm>
            <a:off x="685800" y="4548106"/>
            <a:ext cx="7349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Pivot Tables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943C12-8AAC-6983-7792-D45864C9BF98}"/>
              </a:ext>
            </a:extLst>
          </p:cNvPr>
          <p:cNvSpPr txBox="1"/>
          <p:nvPr/>
        </p:nvSpPr>
        <p:spPr>
          <a:xfrm>
            <a:off x="783164" y="5071326"/>
            <a:ext cx="103886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arenR"/>
            </a:pPr>
            <a:r>
              <a:rPr lang="en-US" sz="1600" dirty="0"/>
              <a:t>Platform wise Average Stress</a:t>
            </a:r>
          </a:p>
          <a:p>
            <a:pPr marL="342900" indent="-342900">
              <a:buAutoNum type="alphaUcParenR"/>
            </a:pPr>
            <a:r>
              <a:rPr lang="en-IN" sz="1600" dirty="0"/>
              <a:t>Gender wise Depression Risk</a:t>
            </a:r>
          </a:p>
          <a:p>
            <a:pPr marL="342900" indent="-342900">
              <a:buAutoNum type="alphaUcParenR"/>
            </a:pPr>
            <a:r>
              <a:rPr lang="en-US" sz="1600" dirty="0"/>
              <a:t>Age group wise Average Social media hours</a:t>
            </a:r>
          </a:p>
          <a:p>
            <a:pPr marL="342900" indent="-342900">
              <a:buAutoNum type="alphaUcParenR"/>
            </a:pPr>
            <a:r>
              <a:rPr lang="en-US" sz="1600" dirty="0"/>
              <a:t>Academic Performance by Average Screen time before sleep</a:t>
            </a:r>
          </a:p>
          <a:p>
            <a:pPr marL="342900" indent="-342900">
              <a:buAutoNum type="alphaUcParenR"/>
            </a:pPr>
            <a:r>
              <a:rPr lang="en-US" sz="1600" dirty="0"/>
              <a:t>Mental Strain Status by Physical Activity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5888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EE955-13C0-2961-AD05-C77A4E1E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E1CAF8-A0C3-057F-ED1E-D71668EF13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19BE91-6AD2-0966-3775-9428C35CB8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" t="1541" r="8273" b="-1541"/>
          <a:stretch>
            <a:fillRect/>
          </a:stretch>
        </p:blipFill>
        <p:spPr>
          <a:xfrm>
            <a:off x="143933" y="252229"/>
            <a:ext cx="7425267" cy="31767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28D924-C68E-3A35-BF15-8F4683557C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287" y="3494896"/>
            <a:ext cx="6780780" cy="32972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Arrow: Left-Up 11">
            <a:extLst>
              <a:ext uri="{FF2B5EF4-FFF2-40B4-BE49-F238E27FC236}">
                <a16:creationId xmlns:a16="http://schemas.microsoft.com/office/drawing/2014/main" id="{142831EC-71C1-45CB-55F1-23082C1D9C83}"/>
              </a:ext>
            </a:extLst>
          </p:cNvPr>
          <p:cNvSpPr/>
          <p:nvPr/>
        </p:nvSpPr>
        <p:spPr>
          <a:xfrm rot="5400000">
            <a:off x="2752585" y="3647516"/>
            <a:ext cx="914400" cy="1356504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D71EB5-3754-A6E2-FEC2-825DDF157D3F}"/>
              </a:ext>
            </a:extLst>
          </p:cNvPr>
          <p:cNvSpPr txBox="1"/>
          <p:nvPr/>
        </p:nvSpPr>
        <p:spPr>
          <a:xfrm>
            <a:off x="2269985" y="3494895"/>
            <a:ext cx="93980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Raw Data</a:t>
            </a:r>
            <a:endParaRPr lang="en-IN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4C303-55E8-75A4-6922-BB2F39401FA0}"/>
              </a:ext>
            </a:extLst>
          </p:cNvPr>
          <p:cNvSpPr txBox="1"/>
          <p:nvPr/>
        </p:nvSpPr>
        <p:spPr>
          <a:xfrm>
            <a:off x="3961483" y="4383777"/>
            <a:ext cx="124551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Cleaned Data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69165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649C6-0F4F-9CD1-4646-636A657E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8856D1-4E46-D229-A5C5-0027176F82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597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34CA6A-C6FE-D9CC-F8BB-E0BCF1452B54}"/>
              </a:ext>
            </a:extLst>
          </p:cNvPr>
          <p:cNvSpPr txBox="1"/>
          <p:nvPr/>
        </p:nvSpPr>
        <p:spPr>
          <a:xfrm>
            <a:off x="881083" y="168959"/>
            <a:ext cx="626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Dashboard Overview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C3D501-8124-055E-F4A5-5A120AFD8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443" y="3699957"/>
            <a:ext cx="4006646" cy="24087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D1C37D-E2D0-8886-2F7E-D359AA161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183" y="824135"/>
            <a:ext cx="4006646" cy="24895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B8AF14-C21A-A482-5B01-FBFF371172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81" y="824135"/>
            <a:ext cx="4006646" cy="240870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E58D8E-DE7B-1960-042B-046D4C5C7AEA}"/>
              </a:ext>
            </a:extLst>
          </p:cNvPr>
          <p:cNvSpPr txBox="1"/>
          <p:nvPr/>
        </p:nvSpPr>
        <p:spPr>
          <a:xfrm>
            <a:off x="706581" y="3297121"/>
            <a:ext cx="38764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Page 1: Overview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B683A6-EFF5-7745-308A-B404A27329F4}"/>
              </a:ext>
            </a:extLst>
          </p:cNvPr>
          <p:cNvSpPr txBox="1"/>
          <p:nvPr/>
        </p:nvSpPr>
        <p:spPr>
          <a:xfrm>
            <a:off x="3887443" y="6199693"/>
            <a:ext cx="3876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Page 3: Mental Health Impact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DAE442-44AF-4C13-D3BD-B8337EA5BE5C}"/>
              </a:ext>
            </a:extLst>
          </p:cNvPr>
          <p:cNvSpPr txBox="1"/>
          <p:nvPr/>
        </p:nvSpPr>
        <p:spPr>
          <a:xfrm>
            <a:off x="7063187" y="3297121"/>
            <a:ext cx="3876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Page 2: Usage Analytics</a:t>
            </a:r>
          </a:p>
        </p:txBody>
      </p:sp>
    </p:spTree>
    <p:extLst>
      <p:ext uri="{BB962C8B-B14F-4D97-AF65-F5344CB8AC3E}">
        <p14:creationId xmlns:p14="http://schemas.microsoft.com/office/powerpoint/2010/main" val="85624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28CC3-5FE4-2E69-40DF-6258B2C5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71E2D3-AFE5-BDA0-B583-A16CCF245D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597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78B27E-B8EF-36B9-78D3-25932FA739D3}"/>
              </a:ext>
            </a:extLst>
          </p:cNvPr>
          <p:cNvSpPr txBox="1"/>
          <p:nvPr/>
        </p:nvSpPr>
        <p:spPr>
          <a:xfrm>
            <a:off x="881083" y="168959"/>
            <a:ext cx="626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Dashboard Overview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0EE213-E121-6C02-0B9C-8F2C7E658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2" y="663435"/>
            <a:ext cx="4850851" cy="2612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25BE65-23CB-062F-7ABF-0CE71879EF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15" y="663435"/>
            <a:ext cx="4850851" cy="26127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C6D3669-4429-AB5A-D31E-0BB3ECB354F0}"/>
              </a:ext>
            </a:extLst>
          </p:cNvPr>
          <p:cNvSpPr txBox="1"/>
          <p:nvPr/>
        </p:nvSpPr>
        <p:spPr>
          <a:xfrm>
            <a:off x="974211" y="6316028"/>
            <a:ext cx="4850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Page 6: The Digital-to-Distress Pathway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3DF8F0-33CB-2CD7-1D87-9FEEE6A3E6EA}"/>
              </a:ext>
            </a:extLst>
          </p:cNvPr>
          <p:cNvSpPr txBox="1"/>
          <p:nvPr/>
        </p:nvSpPr>
        <p:spPr>
          <a:xfrm>
            <a:off x="6290732" y="3309537"/>
            <a:ext cx="4850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Page 5: Academic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063451-FBF2-DA8F-C7CF-677A92929DA3}"/>
              </a:ext>
            </a:extLst>
          </p:cNvPr>
          <p:cNvSpPr txBox="1"/>
          <p:nvPr/>
        </p:nvSpPr>
        <p:spPr>
          <a:xfrm>
            <a:off x="974211" y="3309537"/>
            <a:ext cx="4850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Page 4: Lifestyle &amp; Physical Health Impact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94A83-4F88-787A-BB83-C57B12DCF6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12" y="3691438"/>
            <a:ext cx="4850851" cy="26126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9A8CFE-EAB3-CB00-23AF-0CE4ABF27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3" y="3703329"/>
            <a:ext cx="4850851" cy="2612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0F1952-0550-FE2D-0E49-4F002A951D0E}"/>
              </a:ext>
            </a:extLst>
          </p:cNvPr>
          <p:cNvSpPr txBox="1"/>
          <p:nvPr/>
        </p:nvSpPr>
        <p:spPr>
          <a:xfrm>
            <a:off x="6286222" y="6374901"/>
            <a:ext cx="4850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Page 5: Conclusion</a:t>
            </a:r>
          </a:p>
        </p:txBody>
      </p:sp>
    </p:spTree>
    <p:extLst>
      <p:ext uri="{BB962C8B-B14F-4D97-AF65-F5344CB8AC3E}">
        <p14:creationId xmlns:p14="http://schemas.microsoft.com/office/powerpoint/2010/main" val="3144501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E1DCD-294E-8FE1-E75F-67E50D874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0100D4-F1B8-FFE8-DC51-044F1EF42E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828B4F-0D64-37A3-065C-5D6F14BD1E1E}"/>
              </a:ext>
            </a:extLst>
          </p:cNvPr>
          <p:cNvSpPr txBox="1"/>
          <p:nvPr/>
        </p:nvSpPr>
        <p:spPr>
          <a:xfrm>
            <a:off x="1397000" y="499533"/>
            <a:ext cx="626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Features &amp; Tools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2E59A-0AE0-61E6-9EC4-0EED39A24C40}"/>
              </a:ext>
            </a:extLst>
          </p:cNvPr>
          <p:cNvSpPr txBox="1"/>
          <p:nvPr/>
        </p:nvSpPr>
        <p:spPr>
          <a:xfrm>
            <a:off x="1396999" y="1022753"/>
            <a:ext cx="96181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Power BI Features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Interactive multi-page dashboard design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Cards for key performance indicators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Slicers for dynamic filtering and data exploration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Page Navigation Buttons for seamless report navigation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Custom backgrounds, icons, and visual themes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Tooltips and drill-down capabilities for detailed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3D44F2-071F-F38D-5FDF-E8928D7E9041}"/>
              </a:ext>
            </a:extLst>
          </p:cNvPr>
          <p:cNvSpPr txBox="1"/>
          <p:nvPr/>
        </p:nvSpPr>
        <p:spPr>
          <a:xfrm>
            <a:off x="1396999" y="3219983"/>
            <a:ext cx="96181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Advanced Visualizations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Gauge Chart</a:t>
            </a:r>
            <a:r>
              <a:rPr lang="en-IN" dirty="0"/>
              <a:t> – Mental Strain Index (MSI) performance tracking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Waterfall Chart</a:t>
            </a:r>
            <a:r>
              <a:rPr lang="en-IN" dirty="0"/>
              <a:t> – Contribution of stress, anxiety, sleep, and activity to mental strain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Ribbon Chart</a:t>
            </a:r>
            <a:r>
              <a:rPr lang="en-IN" dirty="0"/>
              <a:t> – Ranking changes across categories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Funnel Chart</a:t>
            </a:r>
            <a:r>
              <a:rPr lang="en-IN" dirty="0"/>
              <a:t> – Teen Well-Being Risk Escalation analysis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 err="1"/>
              <a:t>Treemap</a:t>
            </a:r>
            <a:r>
              <a:rPr lang="en-IN" dirty="0"/>
              <a:t> – Platform and social media usage distribution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Scatter Chart</a:t>
            </a:r>
            <a:r>
              <a:rPr lang="en-IN" dirty="0"/>
              <a:t> – Relationship between stress and media usage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Line &amp; Area Charts</a:t>
            </a:r>
            <a:r>
              <a:rPr lang="en-IN" dirty="0"/>
              <a:t> – Trend analysis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Matrix</a:t>
            </a:r>
            <a:r>
              <a:rPr lang="en-IN" dirty="0"/>
              <a:t> – Multi-dimensional comparison of key metrics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Decomposition Tree</a:t>
            </a:r>
            <a:r>
              <a:rPr lang="en-IN" dirty="0"/>
              <a:t> – Root-cause analysis of high mental strain</a:t>
            </a:r>
          </a:p>
        </p:txBody>
      </p:sp>
    </p:spTree>
    <p:extLst>
      <p:ext uri="{BB962C8B-B14F-4D97-AF65-F5344CB8AC3E}">
        <p14:creationId xmlns:p14="http://schemas.microsoft.com/office/powerpoint/2010/main" val="155545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4C2FC-B8EB-D993-A510-2B7C61A5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766F81-B6DD-07F2-1C1A-EBD9633EAA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220D9C-7A82-423F-E1A4-49BAD6C0FE98}"/>
              </a:ext>
            </a:extLst>
          </p:cNvPr>
          <p:cNvSpPr txBox="1"/>
          <p:nvPr/>
        </p:nvSpPr>
        <p:spPr>
          <a:xfrm>
            <a:off x="601134" y="430883"/>
            <a:ext cx="626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DAX Measures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EAA243-96B8-50DC-3737-706C1A65B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380468"/>
              </p:ext>
            </p:extLst>
          </p:nvPr>
        </p:nvGraphicFramePr>
        <p:xfrm>
          <a:off x="601134" y="954103"/>
          <a:ext cx="10507134" cy="58217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3567">
                  <a:extLst>
                    <a:ext uri="{9D8B030D-6E8A-4147-A177-3AD203B41FA5}">
                      <a16:colId xmlns:a16="http://schemas.microsoft.com/office/drawing/2014/main" val="2287178265"/>
                    </a:ext>
                  </a:extLst>
                </a:gridCol>
                <a:gridCol w="5253567">
                  <a:extLst>
                    <a:ext uri="{9D8B030D-6E8A-4147-A177-3AD203B41FA5}">
                      <a16:colId xmlns:a16="http://schemas.microsoft.com/office/drawing/2014/main" val="89719288"/>
                    </a:ext>
                  </a:extLst>
                </a:gridCol>
              </a:tblGrid>
              <a:tr h="315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Measure Name</a:t>
                      </a:r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Formula</a:t>
                      </a:r>
                      <a:endParaRPr lang="en-IN" sz="100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80826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</a:rPr>
                        <a:t>Avg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 Academic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AVERAGE(Teen_Mental_Health_Dataset[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Academic_performance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])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295194"/>
                  </a:ext>
                </a:extLst>
              </a:tr>
              <a:tr h="400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</a:rPr>
                        <a:t>Avg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 Anxiety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AVERAGE(Teen_Mental_Health_Dataset[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Anxiety_level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])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88554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</a:rPr>
                        <a:t>Avg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 MSI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AVERAGE(Teen_Mental_Health_Dataset[Mental Strain Index(MSI)])</a:t>
                      </a:r>
                      <a:endParaRPr lang="en-IN" sz="11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081043"/>
                  </a:ext>
                </a:extLst>
              </a:tr>
              <a:tr h="400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</a:rPr>
                        <a:t>Avg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 Physical 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AVERAGE(Teen_Mental_Health_Dataset[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Physical_activity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])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261862"/>
                  </a:ext>
                </a:extLst>
              </a:tr>
              <a:tr h="400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</a:rPr>
                        <a:t>Avg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 Sleep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AVERAGE(Teen_Mental_Health_Dataset[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Sleep_hours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])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719259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</a:rPr>
                        <a:t>Avg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 Social Media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AVERAGE(Teen_Mental_Health_Dataset[Daily_social_media_hours])</a:t>
                      </a:r>
                      <a:endParaRPr lang="en-IN" sz="11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85365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</a:rPr>
                        <a:t>Avg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 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AVERAGE(Teen_Mental_Health_Dataset[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Stress_level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])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716017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chemeClr val="tx1"/>
                          </a:solidFill>
                        </a:rPr>
                        <a:t>High Media 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CALCULATE([Total Teens], Teen_Mental_Health_Dataset[Social Media Usage Status] = "High Usage")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3127643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High MSI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CALCULATE([Total Teens], Teen_Mental_Health_Dataset[Mental Strain Status] = "High Risk")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150884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High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CALCULATE([Total Teens], Teen_Mental_Health_Dataset[Mental Strain Status] = "High Risk")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792412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High Risk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DIVIDE([High Risk], [Total Teens])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1881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</a:rPr>
                        <a:t>Low Social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CALCULATE([Total Teens], Teen_Mental_Health_Dataset[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Social_interaction_level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] = "Low")</a:t>
                      </a:r>
                      <a:endParaRPr lang="en-IN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435918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Low Social Interaction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1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DIVIDE([Low Social Interaction], [Total Teens])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0337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41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4FC45-5124-650D-06D4-0CEE6DF9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8A4018-A8BF-3CA7-5681-6D55E49525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19DC3A-FF1D-5BCF-93A3-5CAAEC306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910346"/>
              </p:ext>
            </p:extLst>
          </p:nvPr>
        </p:nvGraphicFramePr>
        <p:xfrm>
          <a:off x="601134" y="1109135"/>
          <a:ext cx="10507134" cy="515043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3567">
                  <a:extLst>
                    <a:ext uri="{9D8B030D-6E8A-4147-A177-3AD203B41FA5}">
                      <a16:colId xmlns:a16="http://schemas.microsoft.com/office/drawing/2014/main" val="2287178265"/>
                    </a:ext>
                  </a:extLst>
                </a:gridCol>
                <a:gridCol w="5253567">
                  <a:extLst>
                    <a:ext uri="{9D8B030D-6E8A-4147-A177-3AD203B41FA5}">
                      <a16:colId xmlns:a16="http://schemas.microsoft.com/office/drawing/2014/main" val="89719288"/>
                    </a:ext>
                  </a:extLst>
                </a:gridCol>
              </a:tblGrid>
              <a:tr h="315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Measure Name</a:t>
                      </a:r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Formula</a:t>
                      </a:r>
                      <a:endParaRPr lang="en-IN" sz="1000"/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80826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Max-MSI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MAX(Teen_Mental_Health_Dataset[Mental Strain Index(MSI)])</a:t>
                      </a:r>
                      <a:endParaRPr lang="en-IN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299952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Min-MSI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MIN(Teen_Mental_Health_Dataset[Mental Strain Index(MSI)])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771295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Platforms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DISTINCTCOUNT(Teen_Mental_Health_Dataset[Platform_usage])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116283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Poor Physical 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CALCULATE([Total Teens], Teen_Mental_Health_Dataset[Physical Activity Status] = "Poor Activity")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104922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Poor Sleep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CALCULATE([Total Teens], Teen_Mental_Health_Dataset[Sleep Quality] = "Poor Sleep")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225080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Poor Sleep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DIVIDE([Poor Sleep], [Total Teens])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551101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Target MSI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5</a:t>
                      </a:r>
                      <a:endParaRPr lang="en-IN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049822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Total 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CALCULATE([Total Teens], Teen_Mental_Health_Dataset[Gender] = "Female")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316624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Total 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CALCULATE([Total Teens], Teen_Mental_Health_Dataset[Gender] = "Male")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561705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Total Teens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COUNTROWS(Teen_Mental_Health_Dataset)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407915"/>
                  </a:ext>
                </a:extLst>
              </a:tr>
              <a:tr h="39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Waterfall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DAX SWITCH( SELECTEDVALUE(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WaterfallFactors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[Factor]), "Stress", [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Avg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 Stress], "Anxiety", [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Avg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 Anxiety], "Sleep", -[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Avg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 Sleep], "Physical Activity", -[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Avg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 Physical Activity], "Final MSI", [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Avg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 MSI], BLANK() )</a:t>
                      </a:r>
                      <a:endParaRPr lang="en-IN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8712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FE6B28-76D3-D451-CA12-22F8CD7CFD99}"/>
              </a:ext>
            </a:extLst>
          </p:cNvPr>
          <p:cNvSpPr txBox="1"/>
          <p:nvPr/>
        </p:nvSpPr>
        <p:spPr>
          <a:xfrm>
            <a:off x="601134" y="430883"/>
            <a:ext cx="626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DAX Measures</a:t>
            </a:r>
          </a:p>
        </p:txBody>
      </p:sp>
    </p:spTree>
    <p:extLst>
      <p:ext uri="{BB962C8B-B14F-4D97-AF65-F5344CB8AC3E}">
        <p14:creationId xmlns:p14="http://schemas.microsoft.com/office/powerpoint/2010/main" val="2776194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374A-2839-3F17-EFE0-4ADDAA28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558287-E854-3AE8-F539-D9C4907554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1C5D9C-4551-4A39-E0AB-8212A7EC6B94}"/>
              </a:ext>
            </a:extLst>
          </p:cNvPr>
          <p:cNvSpPr txBox="1"/>
          <p:nvPr/>
        </p:nvSpPr>
        <p:spPr>
          <a:xfrm>
            <a:off x="1397000" y="499533"/>
            <a:ext cx="6265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Key Conclusions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68B4F-81E5-D68F-183F-24F24A1F3D2C}"/>
              </a:ext>
            </a:extLst>
          </p:cNvPr>
          <p:cNvSpPr txBox="1"/>
          <p:nvPr/>
        </p:nvSpPr>
        <p:spPr>
          <a:xfrm>
            <a:off x="1532467" y="1022753"/>
            <a:ext cx="8077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Social media has become an integral part of teenagers' daily routines, with an average usage of </a:t>
            </a:r>
            <a:r>
              <a:rPr lang="en-IN" sz="1600" b="1" dirty="0"/>
              <a:t>4.46 hours per day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Higher social media engagement is associated with increased </a:t>
            </a:r>
            <a:r>
              <a:rPr lang="en-IN" sz="1600" b="1" dirty="0"/>
              <a:t>stress, anxiety, and overall mental strain</a:t>
            </a:r>
            <a:r>
              <a:rPr lang="en-IN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Poor sleep </a:t>
            </a:r>
            <a:r>
              <a:rPr lang="en-IN" sz="1600" dirty="0"/>
              <a:t>quality and </a:t>
            </a:r>
            <a:r>
              <a:rPr lang="en-IN" sz="1600" b="1" dirty="0"/>
              <a:t>reduced physical activity </a:t>
            </a:r>
            <a:r>
              <a:rPr lang="en-IN" sz="1600" dirty="0"/>
              <a:t>contribute significantly to higher mental strain levels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Teens with </a:t>
            </a:r>
            <a:r>
              <a:rPr lang="en-IN" sz="1600" b="1" dirty="0"/>
              <a:t>balanced digital habits </a:t>
            </a:r>
            <a:r>
              <a:rPr lang="en-IN" sz="1600" dirty="0"/>
              <a:t>generally demonstrate better wellness, lifestyle outcomes, and academic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Mental well-being </a:t>
            </a:r>
            <a:r>
              <a:rPr lang="en-IN" sz="1600" dirty="0"/>
              <a:t>is influenced by a combination of digital behaviour, sleep patterns, physical activity, and social interaction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Data-driven analysis highlights the importance of maintaining </a:t>
            </a:r>
            <a:r>
              <a:rPr lang="en-IN" sz="1600" b="1" dirty="0"/>
              <a:t>a healthy balance</a:t>
            </a:r>
            <a:r>
              <a:rPr lang="en-IN" sz="1600" dirty="0"/>
              <a:t> between online engagement and daily life activities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8ED5D-D35D-2481-122D-5D018CC742CB}"/>
              </a:ext>
            </a:extLst>
          </p:cNvPr>
          <p:cNvSpPr txBox="1"/>
          <p:nvPr/>
        </p:nvSpPr>
        <p:spPr>
          <a:xfrm>
            <a:off x="1397000" y="4174336"/>
            <a:ext cx="8509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Recommendations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603C5F-B009-EDB0-06B0-067CE8C1039D}"/>
              </a:ext>
            </a:extLst>
          </p:cNvPr>
          <p:cNvSpPr txBox="1"/>
          <p:nvPr/>
        </p:nvSpPr>
        <p:spPr>
          <a:xfrm>
            <a:off x="1532467" y="4802151"/>
            <a:ext cx="70696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Promote Responsible Social Media Usage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Improve Sleep Hygiene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Encourage Physical Activity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Strengthen Social Connections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Support Academic Well-Being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6529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11D5E-F34F-D4EE-37E0-B4198C11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E8912C-946F-9CDF-5002-8280B15A17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285FEC-A2B0-0CF0-D55A-E1A03AA5B572}"/>
              </a:ext>
            </a:extLst>
          </p:cNvPr>
          <p:cNvSpPr txBox="1"/>
          <p:nvPr/>
        </p:nvSpPr>
        <p:spPr>
          <a:xfrm>
            <a:off x="1498600" y="1022753"/>
            <a:ext cx="8060267" cy="4091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49932-199B-4CE0-6327-1198DD4BB1BA}"/>
              </a:ext>
            </a:extLst>
          </p:cNvPr>
          <p:cNvSpPr txBox="1"/>
          <p:nvPr/>
        </p:nvSpPr>
        <p:spPr>
          <a:xfrm>
            <a:off x="3166534" y="2177528"/>
            <a:ext cx="57573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1501033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</TotalTime>
  <Words>1370</Words>
  <Application>Microsoft Office PowerPoint</Application>
  <PresentationFormat>Widescreen</PresentationFormat>
  <Paragraphs>177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Wingdings</vt:lpstr>
      <vt:lpstr>Office Theme</vt:lpstr>
      <vt:lpstr>Social Media Influence on Teen Lifestyle &amp; Well-Being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 R</dc:creator>
  <cp:lastModifiedBy>Arya R</cp:lastModifiedBy>
  <cp:revision>9</cp:revision>
  <dcterms:created xsi:type="dcterms:W3CDTF">2026-06-13T13:13:26Z</dcterms:created>
  <dcterms:modified xsi:type="dcterms:W3CDTF">2026-06-16T07:28:29Z</dcterms:modified>
</cp:coreProperties>
</file>